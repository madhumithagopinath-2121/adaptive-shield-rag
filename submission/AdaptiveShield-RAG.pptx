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Arimo Bold" panose="020B0604020202020204" pitchFamily="34" charset="0"/>
      <p:regular r:id="rId15"/>
      <p:bold r:id="rId16"/>
    </p:embeddedFont>
    <p:embeddedFont>
      <p:font typeface="Calibri" panose="020F0502020204030204" pitchFamily="34" charset="0"/>
      <p:regular r:id="rId17"/>
      <p:bold r:id="rId18"/>
      <p:italic r:id="rId19"/>
      <p:boldItalic r:id="rId20"/>
    </p:embeddedFont>
    <p:embeddedFont>
      <p:font typeface="Carlito" panose="020F0502020204030204" pitchFamily="34" charset="0"/>
      <p:regular r:id="rId21"/>
    </p:embeddedFont>
    <p:embeddedFont>
      <p:font typeface="Carlito Bold" panose="020F0502020204030204" pitchFamily="34"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13" d="100"/>
          <a:sy n="113" d="100"/>
        </p:scale>
        <p:origin x="5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4654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g9410@srmist.edu.i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github.com/Madhumithagopinath-2121/adaptive-shield-ra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rive.google.com/file/d/1wIxog8E3c5AE0zx6Rghgf6MoBkFX1uu7/view?usp=shar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77161" y="676573"/>
            <a:ext cx="2423060" cy="347464"/>
          </a:xfrm>
          <a:prstGeom prst="roundRect">
            <a:avLst>
              <a:gd name="adj" fmla="val 49999"/>
            </a:avLst>
          </a:prstGeom>
          <a:solidFill>
            <a:srgbClr val="FFFFFF"/>
          </a:solidFill>
          <a:ln w="12700">
            <a:solidFill>
              <a:srgbClr val="D9D3F0"/>
            </a:solidFill>
            <a:prstDash val="solid"/>
          </a:ln>
        </p:spPr>
      </p:sp>
      <p:sp>
        <p:nvSpPr>
          <p:cNvPr id="3" name="Text 1"/>
          <p:cNvSpPr/>
          <p:nvPr/>
        </p:nvSpPr>
        <p:spPr>
          <a:xfrm>
            <a:off x="472369" y="735806"/>
            <a:ext cx="3032644" cy="209550"/>
          </a:xfrm>
          <a:prstGeom prst="rect">
            <a:avLst/>
          </a:prstGeom>
          <a:noFill/>
          <a:ln/>
        </p:spPr>
        <p:txBody>
          <a:bodyPr wrap="none" lIns="0" tIns="0" rIns="0" bIns="0" rtlCol="0" anchor="t"/>
          <a:lstStyle/>
          <a:p>
            <a:pPr marL="0" indent="0" algn="ctr">
              <a:lnSpc>
                <a:spcPct val="125000"/>
              </a:lnSpc>
              <a:buNone/>
            </a:pPr>
            <a:r>
              <a:rPr lang="en-US" sz="1100" b="1" kern="0" spc="110" dirty="0">
                <a:solidFill>
                  <a:srgbClr val="6D28D9"/>
                </a:solidFill>
                <a:latin typeface="Arimo Bold" pitchFamily="34" charset="0"/>
                <a:ea typeface="Arimo Bold" pitchFamily="34" charset="-122"/>
                <a:cs typeface="Arimo Bold" pitchFamily="34" charset="-120"/>
              </a:rPr>
              <a:t>SAMSUNG PRISM</a:t>
            </a:r>
            <a:endParaRPr lang="en-US" sz="1100" dirty="0"/>
          </a:p>
        </p:txBody>
      </p:sp>
      <p:sp>
        <p:nvSpPr>
          <p:cNvPr id="4" name="Text 2"/>
          <p:cNvSpPr/>
          <p:nvPr/>
        </p:nvSpPr>
        <p:spPr>
          <a:xfrm>
            <a:off x="777161" y="1206996"/>
            <a:ext cx="6126307" cy="762000"/>
          </a:xfrm>
          <a:prstGeom prst="rect">
            <a:avLst/>
          </a:prstGeom>
          <a:noFill/>
          <a:ln/>
        </p:spPr>
        <p:txBody>
          <a:bodyPr wrap="none" lIns="0" tIns="0" rIns="0" bIns="0" rtlCol="0" anchor="t"/>
          <a:lstStyle/>
          <a:p>
            <a:pPr marL="0" indent="0" algn="l">
              <a:lnSpc>
                <a:spcPct val="100000"/>
              </a:lnSpc>
              <a:buNone/>
            </a:pPr>
            <a:r>
              <a:rPr lang="en-US" sz="5000" b="1" dirty="0">
                <a:solidFill>
                  <a:srgbClr val="14142B"/>
                </a:solidFill>
                <a:latin typeface="Arimo Bold" pitchFamily="34" charset="0"/>
                <a:ea typeface="Arimo Bold" pitchFamily="34" charset="-122"/>
                <a:cs typeface="Arimo Bold" pitchFamily="34" charset="-120"/>
              </a:rPr>
              <a:t>Generative AI</a:t>
            </a:r>
            <a:endParaRPr lang="en-US" sz="5000" dirty="0"/>
          </a:p>
        </p:txBody>
      </p:sp>
      <p:sp>
        <p:nvSpPr>
          <p:cNvPr id="5" name="Text 3"/>
          <p:cNvSpPr/>
          <p:nvPr/>
        </p:nvSpPr>
        <p:spPr>
          <a:xfrm>
            <a:off x="777161" y="1901924"/>
            <a:ext cx="6126307" cy="762000"/>
          </a:xfrm>
          <a:prstGeom prst="rect">
            <a:avLst/>
          </a:prstGeom>
          <a:noFill/>
          <a:ln/>
        </p:spPr>
        <p:txBody>
          <a:bodyPr wrap="none" lIns="0" tIns="0" rIns="0" bIns="0" rtlCol="0" anchor="t"/>
          <a:lstStyle/>
          <a:p>
            <a:pPr marL="0" indent="0" algn="l">
              <a:lnSpc>
                <a:spcPct val="100000"/>
              </a:lnSpc>
              <a:buNone/>
            </a:pPr>
            <a:r>
              <a:rPr lang="en-US" sz="5000" b="1" dirty="0">
                <a:solidFill>
                  <a:srgbClr val="6D28D9"/>
                </a:solidFill>
                <a:latin typeface="Arimo Bold" pitchFamily="34" charset="0"/>
                <a:ea typeface="Arimo Bold" pitchFamily="34" charset="-122"/>
                <a:cs typeface="Arimo Bold" pitchFamily="34" charset="-120"/>
              </a:rPr>
              <a:t>Hackathon</a:t>
            </a:r>
            <a:endParaRPr lang="en-US" sz="5000" dirty="0"/>
          </a:p>
        </p:txBody>
      </p:sp>
      <p:sp>
        <p:nvSpPr>
          <p:cNvPr id="6" name="Text 4"/>
          <p:cNvSpPr/>
          <p:nvPr/>
        </p:nvSpPr>
        <p:spPr>
          <a:xfrm>
            <a:off x="777161" y="2762945"/>
            <a:ext cx="1956247" cy="381000"/>
          </a:xfrm>
          <a:prstGeom prst="rect">
            <a:avLst/>
          </a:prstGeom>
          <a:noFill/>
          <a:ln/>
        </p:spPr>
        <p:txBody>
          <a:bodyPr wrap="none" lIns="0" tIns="0" rIns="0" bIns="0" rtlCol="0" anchor="t"/>
          <a:lstStyle/>
          <a:p>
            <a:pPr marL="0" indent="0" algn="l">
              <a:lnSpc>
                <a:spcPct val="100000"/>
              </a:lnSpc>
              <a:buNone/>
            </a:pPr>
            <a:r>
              <a:rPr lang="en-US" sz="2500" b="1" dirty="0">
                <a:solidFill>
                  <a:srgbClr val="14142B"/>
                </a:solidFill>
                <a:latin typeface="Arimo Bold" pitchFamily="34" charset="0"/>
                <a:ea typeface="Arimo Bold" pitchFamily="34" charset="-122"/>
                <a:cs typeface="Arimo Bold" pitchFamily="34" charset="-120"/>
              </a:rPr>
              <a:t>3rd Edition</a:t>
            </a:r>
            <a:endParaRPr lang="en-US" sz="2500" dirty="0"/>
          </a:p>
        </p:txBody>
      </p:sp>
      <p:sp>
        <p:nvSpPr>
          <p:cNvPr id="7" name="Text 5"/>
          <p:cNvSpPr/>
          <p:nvPr/>
        </p:nvSpPr>
        <p:spPr>
          <a:xfrm>
            <a:off x="2407284" y="2825155"/>
            <a:ext cx="1423158" cy="304800"/>
          </a:xfrm>
          <a:prstGeom prst="rect">
            <a:avLst/>
          </a:prstGeom>
          <a:noFill/>
          <a:ln/>
        </p:spPr>
        <p:txBody>
          <a:bodyPr wrap="none" lIns="0" tIns="0" rIns="0" bIns="0" rtlCol="0" anchor="t"/>
          <a:lstStyle/>
          <a:p>
            <a:pPr marL="0" indent="0" algn="l">
              <a:lnSpc>
                <a:spcPct val="100000"/>
              </a:lnSpc>
              <a:buNone/>
            </a:pPr>
            <a:r>
              <a:rPr lang="en-US" sz="2000" dirty="0">
                <a:solidFill>
                  <a:srgbClr val="63637E"/>
                </a:solidFill>
                <a:latin typeface="Carlito" pitchFamily="34" charset="0"/>
                <a:ea typeface="Carlito" pitchFamily="34" charset="-122"/>
                <a:cs typeface="Carlito" pitchFamily="34" charset="-120"/>
              </a:rPr>
              <a:t>   2026 – 27</a:t>
            </a:r>
            <a:endParaRPr lang="en-US" sz="2000" dirty="0"/>
          </a:p>
        </p:txBody>
      </p:sp>
      <p:sp>
        <p:nvSpPr>
          <p:cNvPr id="8" name="Text 6"/>
          <p:cNvSpPr/>
          <p:nvPr/>
        </p:nvSpPr>
        <p:spPr>
          <a:xfrm>
            <a:off x="777161" y="3296146"/>
            <a:ext cx="5801175" cy="2818805"/>
          </a:xfrm>
          <a:prstGeom prst="rect">
            <a:avLst/>
          </a:prstGeom>
          <a:noFill/>
          <a:ln/>
        </p:spPr>
        <p:txBody>
          <a:bodyPr wrap="square" lIns="0" tIns="0" rIns="0" bIns="0" rtlCol="0" anchor="t">
            <a:normAutofit/>
          </a:bodyPr>
          <a:lstStyle/>
          <a:p>
            <a:pPr marL="178816" indent="-178816" algn="l">
              <a:lnSpc>
                <a:spcPct val="100000"/>
              </a:lnSpc>
              <a:buSzPct val="100000"/>
              <a:buChar char="•"/>
            </a:pPr>
            <a:r>
              <a:rPr lang="en-US" sz="1600" dirty="0">
                <a:solidFill>
                  <a:srgbClr val="63637E"/>
                </a:solidFill>
                <a:latin typeface="Carlito" pitchFamily="34" charset="0"/>
                <a:ea typeface="Carlito" pitchFamily="34" charset="-122"/>
                <a:cs typeface="Carlito" pitchFamily="34" charset="-120"/>
              </a:rPr>
              <a:t>Theme </a:t>
            </a:r>
            <a:r>
              <a:rPr lang="en-US" sz="1600">
                <a:solidFill>
                  <a:srgbClr val="63637E"/>
                </a:solidFill>
                <a:latin typeface="Carlito" pitchFamily="34" charset="0"/>
                <a:ea typeface="Carlito" pitchFamily="34" charset="-122"/>
                <a:cs typeface="Carlito" pitchFamily="34" charset="-120"/>
              </a:rPr>
              <a:t>ID – 4 (STREAMING LIVE RAG)</a:t>
            </a:r>
            <a:endParaRPr lang="en-US" sz="1600" dirty="0"/>
          </a:p>
          <a:p>
            <a:pPr marL="178816" indent="-178816" algn="l">
              <a:lnSpc>
                <a:spcPct val="100000"/>
              </a:lnSpc>
              <a:buSzPct val="100000"/>
              <a:buChar char="•"/>
            </a:pPr>
            <a:r>
              <a:rPr lang="en-US" sz="1600" dirty="0">
                <a:solidFill>
                  <a:srgbClr val="63637E"/>
                </a:solidFill>
                <a:latin typeface="Carlito" pitchFamily="34" charset="0"/>
                <a:ea typeface="Carlito" pitchFamily="34" charset="-122"/>
                <a:cs typeface="Carlito" pitchFamily="34" charset="-120"/>
              </a:rPr>
              <a:t>Team Name - TensorFlow</a:t>
            </a:r>
            <a:endParaRPr lang="en-US" sz="1600" dirty="0"/>
          </a:p>
          <a:p>
            <a:pPr marL="178816" indent="-178816" algn="l">
              <a:lnSpc>
                <a:spcPct val="100000"/>
              </a:lnSpc>
              <a:buSzPct val="100000"/>
              <a:buChar char="•"/>
            </a:pPr>
            <a:r>
              <a:rPr lang="en-US" sz="1600" dirty="0">
                <a:solidFill>
                  <a:srgbClr val="63637E"/>
                </a:solidFill>
                <a:latin typeface="Carlito" pitchFamily="34" charset="0"/>
                <a:ea typeface="Carlito" pitchFamily="34" charset="-122"/>
                <a:cs typeface="Carlito" pitchFamily="34" charset="-120"/>
              </a:rPr>
              <a:t>College Name - SRM institute of science and technology</a:t>
            </a:r>
            <a:endParaRPr lang="en-US" sz="1600" dirty="0"/>
          </a:p>
          <a:p>
            <a:pPr marL="178816" indent="-178816" algn="l">
              <a:lnSpc>
                <a:spcPct val="100000"/>
              </a:lnSpc>
              <a:buSzPct val="100000"/>
              <a:buChar char="•"/>
            </a:pPr>
            <a:r>
              <a:rPr lang="en-US" sz="1600" dirty="0">
                <a:solidFill>
                  <a:srgbClr val="63637E"/>
                </a:solidFill>
                <a:latin typeface="Carlito" pitchFamily="34" charset="0"/>
                <a:ea typeface="Carlito" pitchFamily="34" charset="-122"/>
                <a:cs typeface="Carlito" pitchFamily="34" charset="-120"/>
              </a:rPr>
              <a:t>Member Name &amp; Email 1- Kasu Sathvika Mary - sk0981@srmist.edu.in</a:t>
            </a:r>
            <a:endParaRPr lang="en-US" sz="1600" dirty="0"/>
          </a:p>
          <a:p>
            <a:pPr marL="178816" indent="-178816" algn="l">
              <a:lnSpc>
                <a:spcPct val="100000"/>
              </a:lnSpc>
              <a:buSzPct val="100000"/>
              <a:buChar char="•"/>
            </a:pPr>
            <a:r>
              <a:rPr lang="en-US" sz="1600" dirty="0">
                <a:solidFill>
                  <a:srgbClr val="63637E"/>
                </a:solidFill>
                <a:latin typeface="Carlito" pitchFamily="34" charset="0"/>
                <a:ea typeface="Carlito" pitchFamily="34" charset="-122"/>
                <a:cs typeface="Carlito" pitchFamily="34" charset="-120"/>
              </a:rPr>
              <a:t>Member Name &amp; Email 2- Madhumitha G - </a:t>
            </a:r>
            <a:r>
              <a:rPr lang="en-US" sz="1600" b="1" u="sng" dirty="0">
                <a:solidFill>
                  <a:srgbClr val="704EA6"/>
                </a:solidFill>
                <a:latin typeface="Carlito Bold" pitchFamily="34" charset="0"/>
                <a:ea typeface="Carlito Bold" pitchFamily="34" charset="-122"/>
                <a:cs typeface="Carlito Bold" pitchFamily="34" charset="-120"/>
                <a:hlinkClick r:id="rId3">
                  <a:extLst>
                    <a:ext uri="{A12FA001-AC4F-418D-AE19-62706E023703}">
                      <ahyp:hlinkClr xmlns:ahyp="http://schemas.microsoft.com/office/drawing/2018/hyperlinkcolor" val="tx"/>
                    </a:ext>
                  </a:extLst>
                </a:hlinkClick>
              </a:rPr>
              <a:t>mg9410@srmist.edu.in</a:t>
            </a:r>
            <a:endParaRPr lang="en-US" sz="1600" dirty="0"/>
          </a:p>
          <a:p>
            <a:pPr marL="178816" indent="-178816" algn="l">
              <a:lnSpc>
                <a:spcPct val="100000"/>
              </a:lnSpc>
              <a:buSzPct val="100000"/>
              <a:buChar char="•"/>
            </a:pPr>
            <a:r>
              <a:rPr lang="en-US" sz="1600" dirty="0">
                <a:solidFill>
                  <a:srgbClr val="63637E"/>
                </a:solidFill>
                <a:latin typeface="Carlito" pitchFamily="34" charset="0"/>
                <a:ea typeface="Carlito" pitchFamily="34" charset="-122"/>
                <a:cs typeface="Carlito" pitchFamily="34" charset="-120"/>
              </a:rPr>
              <a:t>Submission Github link - </a:t>
            </a:r>
            <a:r>
              <a:rPr lang="en-US" sz="1600" b="1" u="sng" dirty="0">
                <a:solidFill>
                  <a:srgbClr val="704EA6"/>
                </a:solidFill>
                <a:latin typeface="Carlito Bold" pitchFamily="34" charset="0"/>
                <a:ea typeface="Carlito Bold" pitchFamily="34" charset="-122"/>
                <a:cs typeface="Carlito Bold" pitchFamily="34" charset="-120"/>
                <a:hlinkClick r:id="rId4">
                  <a:extLst>
                    <a:ext uri="{A12FA001-AC4F-418D-AE19-62706E023703}">
                      <ahyp:hlinkClr xmlns:ahyp="http://schemas.microsoft.com/office/drawing/2018/hyperlinkcolor" val="tx"/>
                    </a:ext>
                  </a:extLst>
                </a:hlinkClick>
              </a:rPr>
              <a:t>https://github.com/Madhumithagopinath-2121/adaptive-shield-rag</a:t>
            </a:r>
            <a:endParaRPr lang="en-US" sz="1600" dirty="0"/>
          </a:p>
          <a:p>
            <a:pPr marL="325120" indent="-325120" algn="l">
              <a:lnSpc>
                <a:spcPct val="100000"/>
              </a:lnSpc>
              <a:buSzPct val="100000"/>
              <a:buChar char=" "/>
            </a:pPr>
            <a:r>
              <a:rPr lang="en-US" sz="1600" dirty="0">
                <a:solidFill>
                  <a:srgbClr val="63637E"/>
                </a:solidFill>
                <a:latin typeface="Carlito" pitchFamily="34" charset="0"/>
                <a:ea typeface="Carlito" pitchFamily="34" charset="-122"/>
                <a:cs typeface="Carlito" pitchFamily="34" charset="-120"/>
              </a:rPr>
              <a:t> </a:t>
            </a:r>
            <a:endParaRPr lang="en-US" sz="1600" dirty="0"/>
          </a:p>
        </p:txBody>
      </p:sp>
      <p:pic>
        <p:nvPicPr>
          <p:cNvPr id="9" name="Image 0" descr="preencoded.png"/>
          <p:cNvPicPr>
            <a:picLocks noChangeAspect="1"/>
          </p:cNvPicPr>
          <p:nvPr/>
        </p:nvPicPr>
        <p:blipFill>
          <a:blip r:embed="rId5"/>
          <a:stretch>
            <a:fillRect/>
          </a:stretch>
        </p:blipFill>
        <p:spPr>
          <a:xfrm>
            <a:off x="7058940" y="1051520"/>
            <a:ext cx="4571886"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Theme</a:t>
            </a:r>
            <a:endParaRPr lang="en-US" sz="4400" dirty="0"/>
          </a:p>
        </p:txBody>
      </p:sp>
      <p:sp>
        <p:nvSpPr>
          <p:cNvPr id="3" name="Text 1"/>
          <p:cNvSpPr/>
          <p:nvPr/>
        </p:nvSpPr>
        <p:spPr>
          <a:xfrm>
            <a:off x="895328" y="2032000"/>
            <a:ext cx="10401040" cy="411460"/>
          </a:xfrm>
          <a:prstGeom prst="rect">
            <a:avLst/>
          </a:prstGeom>
          <a:noFill/>
          <a:ln/>
        </p:spPr>
        <p:txBody>
          <a:bodyPr wrap="none" lIns="0" tIns="0" rIns="0" bIns="0" rtlCol="0" anchor="t"/>
          <a:lstStyle/>
          <a:p>
            <a:pPr marL="0" indent="0" algn="ctr">
              <a:lnSpc>
                <a:spcPct val="100000"/>
              </a:lnSpc>
              <a:buNone/>
            </a:pPr>
            <a:r>
              <a:rPr lang="en-US" sz="2700" b="1" dirty="0">
                <a:solidFill>
                  <a:srgbClr val="63637E"/>
                </a:solidFill>
                <a:latin typeface="Carlito Bold" pitchFamily="34" charset="0"/>
                <a:ea typeface="Carlito Bold" pitchFamily="34" charset="-122"/>
                <a:cs typeface="Carlito Bold" pitchFamily="34" charset="-120"/>
              </a:rPr>
              <a:t>AdaptiveShield RAG</a:t>
            </a:r>
            <a:endParaRPr lang="en-US" sz="2700" dirty="0"/>
          </a:p>
        </p:txBody>
      </p:sp>
      <p:sp>
        <p:nvSpPr>
          <p:cNvPr id="4" name="Text 2"/>
          <p:cNvSpPr/>
          <p:nvPr/>
        </p:nvSpPr>
        <p:spPr>
          <a:xfrm>
            <a:off x="895328" y="2672060"/>
            <a:ext cx="10401040" cy="762000"/>
          </a:xfrm>
          <a:prstGeom prst="rect">
            <a:avLst/>
          </a:prstGeom>
          <a:noFill/>
          <a:ln/>
        </p:spPr>
        <p:txBody>
          <a:bodyPr wrap="square" lIns="0" tIns="0" rIns="0" bIns="0" rtlCol="0" anchor="t">
            <a:normAutofit/>
          </a:bodyPr>
          <a:lstStyle/>
          <a:p>
            <a:pPr marL="0" indent="0" algn="ctr">
              <a:lnSpc>
                <a:spcPct val="125000"/>
              </a:lnSpc>
              <a:buNone/>
            </a:pPr>
            <a:r>
              <a:rPr lang="en-US" sz="2000" dirty="0">
                <a:solidFill>
                  <a:srgbClr val="63637E"/>
                </a:solidFill>
                <a:latin typeface="Carlito" pitchFamily="34" charset="0"/>
                <a:ea typeface="Carlito" pitchFamily="34" charset="-122"/>
                <a:cs typeface="Carlito" pitchFamily="34" charset="-120"/>
              </a:rPr>
              <a:t>A retrieval-augmented generation system that adapts to the query, retrieves trusted context, and applies a safety shield before producing an answer.</a:t>
            </a:r>
            <a:endParaRPr lang="en-US" sz="2000" dirty="0"/>
          </a:p>
        </p:txBody>
      </p:sp>
      <p:sp>
        <p:nvSpPr>
          <p:cNvPr id="5" name="Text 3"/>
          <p:cNvSpPr/>
          <p:nvPr/>
        </p:nvSpPr>
        <p:spPr>
          <a:xfrm>
            <a:off x="895328" y="3662660"/>
            <a:ext cx="10401040" cy="116582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Ground responses in approved knowledge sources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Reduce unsupported or unsafe outputs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Keep the experience simple for enterprise users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Existing Solutions &amp; Gaps</a:t>
            </a:r>
            <a:endParaRPr lang="en-US" sz="4400" dirty="0"/>
          </a:p>
        </p:txBody>
      </p:sp>
      <p:sp>
        <p:nvSpPr>
          <p:cNvPr id="3" name="Text 1"/>
          <p:cNvSpPr/>
          <p:nvPr/>
        </p:nvSpPr>
        <p:spPr>
          <a:xfrm>
            <a:off x="895328" y="2032000"/>
            <a:ext cx="4838579"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What exists</a:t>
            </a:r>
            <a:endParaRPr lang="en-US" sz="2500" dirty="0"/>
          </a:p>
        </p:txBody>
      </p:sp>
      <p:sp>
        <p:nvSpPr>
          <p:cNvPr id="4" name="Text 2"/>
          <p:cNvSpPr/>
          <p:nvPr/>
        </p:nvSpPr>
        <p:spPr>
          <a:xfrm>
            <a:off x="895328" y="2641600"/>
            <a:ext cx="4838579" cy="192018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General-purpose chatbots and LLM assistants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Keyword search and static FAQ systems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Basic RAG pipelines over document stores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Standalone content filters applied after generation</a:t>
            </a:r>
            <a:endParaRPr lang="en-US" sz="1800" dirty="0"/>
          </a:p>
        </p:txBody>
      </p:sp>
      <p:sp>
        <p:nvSpPr>
          <p:cNvPr id="5" name="Text 3"/>
          <p:cNvSpPr/>
          <p:nvPr/>
        </p:nvSpPr>
        <p:spPr>
          <a:xfrm>
            <a:off x="6457788" y="2032000"/>
            <a:ext cx="4838579"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Gaps</a:t>
            </a:r>
            <a:endParaRPr lang="en-US" sz="2500" dirty="0"/>
          </a:p>
        </p:txBody>
      </p:sp>
      <p:sp>
        <p:nvSpPr>
          <p:cNvPr id="6" name="Text 4"/>
          <p:cNvSpPr/>
          <p:nvPr/>
        </p:nvSpPr>
        <p:spPr>
          <a:xfrm>
            <a:off x="6457788" y="2641600"/>
            <a:ext cx="4838579" cy="226308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Retrieval can miss the right context</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Answers may be confident but unsupported</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Safety checks are often disconnected from retrieval</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Limited transparency, control, and feedback loops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29557" y="355600"/>
            <a:ext cx="10366810" cy="548580"/>
          </a:xfrm>
          <a:prstGeom prst="rect">
            <a:avLst/>
          </a:prstGeom>
          <a:noFill/>
          <a:ln/>
        </p:spPr>
        <p:txBody>
          <a:bodyPr wrap="none" lIns="0" tIns="0" rIns="0" bIns="0" rtlCol="0" anchor="t"/>
          <a:lstStyle/>
          <a:p>
            <a:pPr marL="0" indent="0" algn="l">
              <a:lnSpc>
                <a:spcPct val="90000"/>
              </a:lnSpc>
              <a:buNone/>
            </a:pPr>
            <a:r>
              <a:rPr lang="en-US" sz="4000" b="1" dirty="0">
                <a:solidFill>
                  <a:srgbClr val="704EA6"/>
                </a:solidFill>
                <a:latin typeface="Carlito Bold" pitchFamily="34" charset="0"/>
                <a:ea typeface="Carlito Bold" pitchFamily="34" charset="-122"/>
                <a:cs typeface="Carlito Bold" pitchFamily="34" charset="-120"/>
              </a:rPr>
              <a:t>Our Solutions &amp; Architecture Diagram</a:t>
            </a:r>
            <a:endParaRPr lang="en-US" sz="4000" dirty="0"/>
          </a:p>
        </p:txBody>
      </p:sp>
      <p:sp>
        <p:nvSpPr>
          <p:cNvPr id="3" name="Text 1"/>
          <p:cNvSpPr/>
          <p:nvPr/>
        </p:nvSpPr>
        <p:spPr>
          <a:xfrm>
            <a:off x="1026591" y="5936357"/>
            <a:ext cx="10138414" cy="247650"/>
          </a:xfrm>
          <a:prstGeom prst="rect">
            <a:avLst/>
          </a:prstGeom>
          <a:noFill/>
          <a:ln/>
        </p:spPr>
        <p:txBody>
          <a:bodyPr wrap="none" lIns="0" tIns="0" rIns="0" bIns="0" rtlCol="0" anchor="t"/>
          <a:lstStyle/>
          <a:p>
            <a:pPr marL="0" indent="0" algn="ctr">
              <a:lnSpc>
                <a:spcPct val="125000"/>
              </a:lnSpc>
              <a:buNone/>
            </a:pPr>
            <a:r>
              <a:rPr lang="en-US" sz="1300" b="1" u="sng" dirty="0">
                <a:solidFill>
                  <a:srgbClr val="704EA6"/>
                </a:solidFill>
                <a:latin typeface="Carlito Bold" pitchFamily="34" charset="0"/>
                <a:ea typeface="Carlito Bold" pitchFamily="34" charset="-122"/>
                <a:cs typeface="Carlito Bold" pitchFamily="34" charset="-120"/>
                <a:hlinkClick r:id="rId3">
                  <a:extLst>
                    <a:ext uri="{A12FA001-AC4F-418D-AE19-62706E023703}">
                      <ahyp:hlinkClr xmlns:ahyp="http://schemas.microsoft.com/office/drawing/2018/hyperlinkcolor" val="tx"/>
                    </a:ext>
                  </a:extLst>
                </a:hlinkClick>
              </a:rPr>
              <a:t>Architecture diagram</a:t>
            </a:r>
            <a:r>
              <a:rPr lang="en-US" sz="1300" dirty="0">
                <a:solidFill>
                  <a:srgbClr val="63637E"/>
                </a:solidFill>
                <a:latin typeface="Carlito" pitchFamily="34" charset="0"/>
                <a:ea typeface="Carlito" pitchFamily="34" charset="-122"/>
                <a:cs typeface="Carlito" pitchFamily="34" charset="-120"/>
              </a:rPr>
              <a:t> : </a:t>
            </a:r>
            <a:r>
              <a:rPr lang="en-US" sz="1300" b="1" u="sng" dirty="0">
                <a:solidFill>
                  <a:srgbClr val="704EA6"/>
                </a:solidFill>
                <a:latin typeface="Carlito Bold" pitchFamily="34" charset="0"/>
                <a:ea typeface="Carlito Bold" pitchFamily="34" charset="-122"/>
                <a:cs typeface="Carlito Bold" pitchFamily="34" charset="-120"/>
                <a:hlinkClick r:id="rId3">
                  <a:extLst>
                    <a:ext uri="{A12FA001-AC4F-418D-AE19-62706E023703}">
                      <ahyp:hlinkClr xmlns:ahyp="http://schemas.microsoft.com/office/drawing/2018/hyperlinkcolor" val="tx"/>
                    </a:ext>
                  </a:extLst>
                </a:hlinkClick>
              </a:rPr>
              <a:t>https://drive.google.com/file/d/1wIxog8E3c5AE0zx6Rghgf6MoBkFX1uu7/view?usp=sharing</a:t>
            </a:r>
            <a:endParaRPr lang="en-US" sz="1300" dirty="0"/>
          </a:p>
        </p:txBody>
      </p:sp>
      <p:sp>
        <p:nvSpPr>
          <p:cNvPr id="4" name="Shape 2"/>
          <p:cNvSpPr/>
          <p:nvPr/>
        </p:nvSpPr>
        <p:spPr>
          <a:xfrm>
            <a:off x="812780" y="1828800"/>
            <a:ext cx="4635384" cy="3453011"/>
          </a:xfrm>
          <a:prstGeom prst="roundRect">
            <a:avLst>
              <a:gd name="adj" fmla="val 5296"/>
            </a:avLst>
          </a:prstGeom>
          <a:solidFill>
            <a:srgbClr val="F7F3FB"/>
          </a:solidFill>
          <a:ln w="6350">
            <a:solidFill>
              <a:srgbClr val="D8CBEA"/>
            </a:solidFill>
            <a:prstDash val="solid"/>
          </a:ln>
        </p:spPr>
      </p:sp>
      <p:sp>
        <p:nvSpPr>
          <p:cNvPr id="5" name="Text 3"/>
          <p:cNvSpPr/>
          <p:nvPr/>
        </p:nvSpPr>
        <p:spPr>
          <a:xfrm>
            <a:off x="1085823" y="2063750"/>
            <a:ext cx="4089298" cy="319980"/>
          </a:xfrm>
          <a:prstGeom prst="rect">
            <a:avLst/>
          </a:prstGeom>
          <a:noFill/>
          <a:ln/>
        </p:spPr>
        <p:txBody>
          <a:bodyPr wrap="none" lIns="0" tIns="0" rIns="0" bIns="0" rtlCol="0" anchor="t"/>
          <a:lstStyle/>
          <a:p>
            <a:pPr marL="0" indent="0" algn="ctr">
              <a:lnSpc>
                <a:spcPct val="100000"/>
              </a:lnSpc>
              <a:buNone/>
            </a:pPr>
            <a:r>
              <a:rPr lang="en-US" sz="2100" b="1" dirty="0">
                <a:solidFill>
                  <a:srgbClr val="000000"/>
                </a:solidFill>
                <a:latin typeface="Carlito Bold" pitchFamily="34" charset="0"/>
                <a:ea typeface="Carlito Bold" pitchFamily="34" charset="-122"/>
                <a:cs typeface="Carlito Bold" pitchFamily="34" charset="-120"/>
              </a:rPr>
              <a:t>Adaptive retrieval</a:t>
            </a:r>
            <a:endParaRPr lang="en-US" sz="2100" dirty="0"/>
          </a:p>
        </p:txBody>
      </p:sp>
      <p:sp>
        <p:nvSpPr>
          <p:cNvPr id="6" name="Text 4"/>
          <p:cNvSpPr/>
          <p:nvPr/>
        </p:nvSpPr>
        <p:spPr>
          <a:xfrm>
            <a:off x="1085823" y="2612330"/>
            <a:ext cx="4089298" cy="857250"/>
          </a:xfrm>
          <a:prstGeom prst="rect">
            <a:avLst/>
          </a:prstGeom>
          <a:noFill/>
          <a:ln/>
        </p:spPr>
        <p:txBody>
          <a:bodyPr wrap="square" lIns="0" tIns="0" rIns="0" bIns="0" rtlCol="0" anchor="t">
            <a:normAutofit/>
          </a:bodyPr>
          <a:lstStyle/>
          <a:p>
            <a:pPr marL="0" indent="0" algn="ctr">
              <a:lnSpc>
                <a:spcPct val="125000"/>
              </a:lnSpc>
              <a:buNone/>
            </a:pPr>
            <a:r>
              <a:rPr lang="en-US" sz="1500" dirty="0">
                <a:solidFill>
                  <a:srgbClr val="000000"/>
                </a:solidFill>
                <a:latin typeface="Carlito" pitchFamily="34" charset="0"/>
                <a:ea typeface="Carlito" pitchFamily="34" charset="-122"/>
                <a:cs typeface="Carlito" pitchFamily="34" charset="-120"/>
              </a:rPr>
              <a:t>Classify the request, select the relevant sources, retrieve supporting passages, and assemble grounded context.</a:t>
            </a:r>
            <a:endParaRPr lang="en-US" sz="1500" dirty="0"/>
          </a:p>
        </p:txBody>
      </p:sp>
      <p:sp>
        <p:nvSpPr>
          <p:cNvPr id="7" name="Text 5"/>
          <p:cNvSpPr/>
          <p:nvPr/>
        </p:nvSpPr>
        <p:spPr>
          <a:xfrm>
            <a:off x="1085823" y="3926780"/>
            <a:ext cx="4089298" cy="319980"/>
          </a:xfrm>
          <a:prstGeom prst="rect">
            <a:avLst/>
          </a:prstGeom>
          <a:noFill/>
          <a:ln/>
        </p:spPr>
        <p:txBody>
          <a:bodyPr wrap="none" lIns="0" tIns="0" rIns="0" bIns="0" rtlCol="0" anchor="t"/>
          <a:lstStyle/>
          <a:p>
            <a:pPr marL="0" indent="0" algn="ctr">
              <a:lnSpc>
                <a:spcPct val="100000"/>
              </a:lnSpc>
              <a:buNone/>
            </a:pPr>
            <a:r>
              <a:rPr lang="en-US" sz="2100" b="1" dirty="0">
                <a:solidFill>
                  <a:srgbClr val="000000"/>
                </a:solidFill>
                <a:latin typeface="Carlito Bold" pitchFamily="34" charset="0"/>
                <a:ea typeface="Carlito Bold" pitchFamily="34" charset="-122"/>
                <a:cs typeface="Carlito Bold" pitchFamily="34" charset="-120"/>
              </a:rPr>
              <a:t>Safety shield</a:t>
            </a:r>
            <a:endParaRPr lang="en-US" sz="2100" dirty="0"/>
          </a:p>
        </p:txBody>
      </p:sp>
      <p:sp>
        <p:nvSpPr>
          <p:cNvPr id="8" name="Text 6"/>
          <p:cNvSpPr/>
          <p:nvPr/>
        </p:nvSpPr>
        <p:spPr>
          <a:xfrm>
            <a:off x="1085823" y="4475361"/>
            <a:ext cx="4089298" cy="571500"/>
          </a:xfrm>
          <a:prstGeom prst="rect">
            <a:avLst/>
          </a:prstGeom>
          <a:noFill/>
          <a:ln/>
        </p:spPr>
        <p:txBody>
          <a:bodyPr wrap="square" lIns="0" tIns="0" rIns="0" bIns="0" rtlCol="0" anchor="t">
            <a:normAutofit/>
          </a:bodyPr>
          <a:lstStyle/>
          <a:p>
            <a:pPr marL="0" indent="0" algn="ctr">
              <a:lnSpc>
                <a:spcPct val="125000"/>
              </a:lnSpc>
              <a:buNone/>
            </a:pPr>
            <a:r>
              <a:rPr lang="en-US" sz="1500" dirty="0">
                <a:solidFill>
                  <a:srgbClr val="000000"/>
                </a:solidFill>
                <a:latin typeface="Carlito" pitchFamily="34" charset="0"/>
                <a:ea typeface="Carlito" pitchFamily="34" charset="-122"/>
                <a:cs typeface="Carlito" pitchFamily="34" charset="-120"/>
              </a:rPr>
              <a:t>Check the request and candidate answer against policy and evidence before release.</a:t>
            </a:r>
            <a:endParaRPr lang="en-US" sz="1500" dirty="0"/>
          </a:p>
        </p:txBody>
      </p:sp>
      <p:sp>
        <p:nvSpPr>
          <p:cNvPr id="9" name="Shape 7"/>
          <p:cNvSpPr/>
          <p:nvPr/>
        </p:nvSpPr>
        <p:spPr>
          <a:xfrm>
            <a:off x="6743531" y="1828800"/>
            <a:ext cx="4635384" cy="3860800"/>
          </a:xfrm>
          <a:prstGeom prst="roundRect">
            <a:avLst>
              <a:gd name="adj" fmla="val 4737"/>
            </a:avLst>
          </a:prstGeom>
          <a:solidFill>
            <a:srgbClr val="F7F3FB"/>
          </a:solidFill>
          <a:ln w="6350">
            <a:solidFill>
              <a:srgbClr val="D8CBEA"/>
            </a:solidFill>
            <a:prstDash val="solid"/>
          </a:ln>
        </p:spPr>
      </p:sp>
      <p:sp>
        <p:nvSpPr>
          <p:cNvPr id="10" name="Text 8"/>
          <p:cNvSpPr/>
          <p:nvPr/>
        </p:nvSpPr>
        <p:spPr>
          <a:xfrm>
            <a:off x="7016574" y="2063750"/>
            <a:ext cx="4089298" cy="319980"/>
          </a:xfrm>
          <a:prstGeom prst="rect">
            <a:avLst/>
          </a:prstGeom>
          <a:noFill/>
          <a:ln/>
        </p:spPr>
        <p:txBody>
          <a:bodyPr wrap="none" lIns="0" tIns="0" rIns="0" bIns="0" rtlCol="0" anchor="t"/>
          <a:lstStyle/>
          <a:p>
            <a:pPr marL="0" indent="0" algn="ctr">
              <a:lnSpc>
                <a:spcPct val="100000"/>
              </a:lnSpc>
              <a:buNone/>
            </a:pPr>
            <a:r>
              <a:rPr lang="en-US" sz="2100" b="1" dirty="0">
                <a:solidFill>
                  <a:srgbClr val="000000"/>
                </a:solidFill>
                <a:latin typeface="Carlito Bold" pitchFamily="34" charset="0"/>
                <a:ea typeface="Carlito Bold" pitchFamily="34" charset="-122"/>
                <a:cs typeface="Carlito Bold" pitchFamily="34" charset="-120"/>
              </a:rPr>
              <a:t>Generation</a:t>
            </a:r>
            <a:endParaRPr lang="en-US" sz="2100" dirty="0"/>
          </a:p>
        </p:txBody>
      </p:sp>
      <p:sp>
        <p:nvSpPr>
          <p:cNvPr id="11" name="Text 9"/>
          <p:cNvSpPr/>
          <p:nvPr/>
        </p:nvSpPr>
        <p:spPr>
          <a:xfrm>
            <a:off x="7016574" y="2612330"/>
            <a:ext cx="4089298" cy="571500"/>
          </a:xfrm>
          <a:prstGeom prst="rect">
            <a:avLst/>
          </a:prstGeom>
          <a:noFill/>
          <a:ln/>
        </p:spPr>
        <p:txBody>
          <a:bodyPr wrap="square" lIns="0" tIns="0" rIns="0" bIns="0" rtlCol="0" anchor="t">
            <a:normAutofit/>
          </a:bodyPr>
          <a:lstStyle/>
          <a:p>
            <a:pPr marL="0" indent="0" algn="ctr">
              <a:lnSpc>
                <a:spcPct val="125000"/>
              </a:lnSpc>
              <a:buNone/>
            </a:pPr>
            <a:r>
              <a:rPr lang="en-US" sz="1500" dirty="0">
                <a:solidFill>
                  <a:srgbClr val="000000"/>
                </a:solidFill>
                <a:latin typeface="Carlito" pitchFamily="34" charset="0"/>
                <a:ea typeface="Carlito" pitchFamily="34" charset="-122"/>
                <a:cs typeface="Carlito" pitchFamily="34" charset="-120"/>
              </a:rPr>
              <a:t>Use the approved context to generate a concise answer with traceable evidence.</a:t>
            </a:r>
            <a:endParaRPr lang="en-US" sz="1500" dirty="0"/>
          </a:p>
        </p:txBody>
      </p:sp>
      <p:sp>
        <p:nvSpPr>
          <p:cNvPr id="12" name="Text 10"/>
          <p:cNvSpPr/>
          <p:nvPr/>
        </p:nvSpPr>
        <p:spPr>
          <a:xfrm>
            <a:off x="7016574" y="3641030"/>
            <a:ext cx="4089298" cy="319980"/>
          </a:xfrm>
          <a:prstGeom prst="rect">
            <a:avLst/>
          </a:prstGeom>
          <a:noFill/>
          <a:ln/>
        </p:spPr>
        <p:txBody>
          <a:bodyPr wrap="none" lIns="0" tIns="0" rIns="0" bIns="0" rtlCol="0" anchor="t"/>
          <a:lstStyle/>
          <a:p>
            <a:pPr marL="0" indent="0" algn="ctr">
              <a:lnSpc>
                <a:spcPct val="100000"/>
              </a:lnSpc>
              <a:buNone/>
            </a:pPr>
            <a:r>
              <a:rPr lang="en-US" sz="2100" b="1" dirty="0">
                <a:solidFill>
                  <a:srgbClr val="000000"/>
                </a:solidFill>
                <a:latin typeface="Carlito Bold" pitchFamily="34" charset="0"/>
                <a:ea typeface="Carlito Bold" pitchFamily="34" charset="-122"/>
                <a:cs typeface="Carlito Bold" pitchFamily="34" charset="-120"/>
              </a:rPr>
              <a:t>Feedback loop</a:t>
            </a:r>
            <a:endParaRPr lang="en-US" sz="2100" dirty="0"/>
          </a:p>
        </p:txBody>
      </p:sp>
      <p:sp>
        <p:nvSpPr>
          <p:cNvPr id="13" name="Text 11"/>
          <p:cNvSpPr/>
          <p:nvPr/>
        </p:nvSpPr>
        <p:spPr>
          <a:xfrm>
            <a:off x="7016574" y="4189611"/>
            <a:ext cx="4089298" cy="571500"/>
          </a:xfrm>
          <a:prstGeom prst="rect">
            <a:avLst/>
          </a:prstGeom>
          <a:noFill/>
          <a:ln/>
        </p:spPr>
        <p:txBody>
          <a:bodyPr wrap="square" lIns="0" tIns="0" rIns="0" bIns="0" rtlCol="0" anchor="t">
            <a:normAutofit/>
          </a:bodyPr>
          <a:lstStyle/>
          <a:p>
            <a:pPr marL="0" indent="0" algn="ctr">
              <a:lnSpc>
                <a:spcPct val="125000"/>
              </a:lnSpc>
              <a:buNone/>
            </a:pPr>
            <a:r>
              <a:rPr lang="en-US" sz="1500" dirty="0">
                <a:solidFill>
                  <a:srgbClr val="000000"/>
                </a:solidFill>
                <a:latin typeface="Carlito" pitchFamily="34" charset="0"/>
                <a:ea typeface="Carlito" pitchFamily="34" charset="-122"/>
                <a:cs typeface="Carlito" pitchFamily="34" charset="-120"/>
              </a:rPr>
              <a:t>Capture user feedback, retrieval quality, and shield decisions for continuous improvement.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Demo &amp; Product Walkthrough</a:t>
            </a:r>
            <a:endParaRPr lang="en-US" sz="4400" dirty="0"/>
          </a:p>
        </p:txBody>
      </p:sp>
      <p:pic>
        <p:nvPicPr>
          <p:cNvPr id="3" name="Image 0" descr="preencoded.png"/>
          <p:cNvPicPr>
            <a:picLocks noChangeAspect="1"/>
          </p:cNvPicPr>
          <p:nvPr/>
        </p:nvPicPr>
        <p:blipFill>
          <a:blip r:embed="rId3"/>
          <a:stretch>
            <a:fillRect/>
          </a:stretch>
        </p:blipFill>
        <p:spPr>
          <a:xfrm>
            <a:off x="838179" y="2286000"/>
            <a:ext cx="5016375" cy="3302000"/>
          </a:xfrm>
          <a:prstGeom prst="rect">
            <a:avLst/>
          </a:prstGeom>
        </p:spPr>
      </p:pic>
      <p:pic>
        <p:nvPicPr>
          <p:cNvPr id="4" name="Image 1" descr="preencoded.png"/>
          <p:cNvPicPr>
            <a:picLocks noChangeAspect="1"/>
          </p:cNvPicPr>
          <p:nvPr/>
        </p:nvPicPr>
        <p:blipFill>
          <a:blip r:embed="rId4"/>
          <a:stretch>
            <a:fillRect/>
          </a:stretch>
        </p:blipFill>
        <p:spPr>
          <a:xfrm>
            <a:off x="6337141" y="2286000"/>
            <a:ext cx="5016375" cy="3302000"/>
          </a:xfrm>
          <a:prstGeom prst="rect">
            <a:avLst/>
          </a:prstGeom>
        </p:spPr>
      </p:pic>
      <p:sp>
        <p:nvSpPr>
          <p:cNvPr id="5" name="Text 1"/>
          <p:cNvSpPr/>
          <p:nvPr/>
        </p:nvSpPr>
        <p:spPr>
          <a:xfrm>
            <a:off x="590535" y="1803400"/>
            <a:ext cx="5511662" cy="342900"/>
          </a:xfrm>
          <a:prstGeom prst="rect">
            <a:avLst/>
          </a:prstGeom>
          <a:noFill/>
          <a:ln/>
        </p:spPr>
        <p:txBody>
          <a:bodyPr wrap="none" lIns="0" tIns="0" rIns="0" bIns="0" rtlCol="0" anchor="t"/>
          <a:lstStyle/>
          <a:p>
            <a:pPr marL="0" indent="0" algn="ctr">
              <a:lnSpc>
                <a:spcPct val="125000"/>
              </a:lnSpc>
              <a:buNone/>
            </a:pPr>
            <a:r>
              <a:rPr lang="en-US" sz="1800" b="1" dirty="0">
                <a:solidFill>
                  <a:srgbClr val="63637E"/>
                </a:solidFill>
                <a:latin typeface="Carlito Bold" pitchFamily="34" charset="0"/>
                <a:ea typeface="Carlito Bold" pitchFamily="34" charset="-122"/>
                <a:cs typeface="Carlito Bold" pitchFamily="34" charset="-120"/>
              </a:rPr>
              <a:t>1. Ask</a:t>
            </a:r>
            <a:r>
              <a:rPr lang="en-US" sz="1800" dirty="0">
                <a:solidFill>
                  <a:srgbClr val="63637E"/>
                </a:solidFill>
                <a:latin typeface="Carlito" pitchFamily="34" charset="0"/>
                <a:ea typeface="Carlito" pitchFamily="34" charset="-122"/>
                <a:cs typeface="Carlito" pitchFamily="34" charset="-120"/>
              </a:rPr>
              <a:t> — retrieve trusted sources</a:t>
            </a:r>
            <a:endParaRPr lang="en-US" sz="1800" dirty="0"/>
          </a:p>
        </p:txBody>
      </p:sp>
      <p:sp>
        <p:nvSpPr>
          <p:cNvPr id="6" name="Text 2"/>
          <p:cNvSpPr/>
          <p:nvPr/>
        </p:nvSpPr>
        <p:spPr>
          <a:xfrm>
            <a:off x="6089498" y="1803400"/>
            <a:ext cx="5511662" cy="342900"/>
          </a:xfrm>
          <a:prstGeom prst="rect">
            <a:avLst/>
          </a:prstGeom>
          <a:noFill/>
          <a:ln/>
        </p:spPr>
        <p:txBody>
          <a:bodyPr wrap="none" lIns="0" tIns="0" rIns="0" bIns="0" rtlCol="0" anchor="t"/>
          <a:lstStyle/>
          <a:p>
            <a:pPr marL="0" indent="0" algn="ctr">
              <a:lnSpc>
                <a:spcPct val="125000"/>
              </a:lnSpc>
              <a:buNone/>
            </a:pPr>
            <a:r>
              <a:rPr lang="en-US" sz="1800" b="1" dirty="0">
                <a:solidFill>
                  <a:srgbClr val="63637E"/>
                </a:solidFill>
                <a:latin typeface="Carlito Bold" pitchFamily="34" charset="0"/>
                <a:ea typeface="Carlito Bold" pitchFamily="34" charset="-122"/>
                <a:cs typeface="Carlito Bold" pitchFamily="34" charset="-120"/>
              </a:rPr>
              <a:t>2. Review</a:t>
            </a:r>
            <a:r>
              <a:rPr lang="en-US" sz="1800" dirty="0">
                <a:solidFill>
                  <a:srgbClr val="63637E"/>
                </a:solidFill>
                <a:latin typeface="Carlito" pitchFamily="34" charset="0"/>
                <a:ea typeface="Carlito" pitchFamily="34" charset="-122"/>
                <a:cs typeface="Carlito" pitchFamily="34" charset="-120"/>
              </a:rPr>
              <a:t> — grounded answer with evidence</a:t>
            </a:r>
            <a:endParaRPr lang="en-US" sz="1800" dirty="0"/>
          </a:p>
        </p:txBody>
      </p:sp>
      <p:sp>
        <p:nvSpPr>
          <p:cNvPr id="7" name="Text 3"/>
          <p:cNvSpPr/>
          <p:nvPr/>
        </p:nvSpPr>
        <p:spPr>
          <a:xfrm>
            <a:off x="590535" y="5778500"/>
            <a:ext cx="11010625" cy="323850"/>
          </a:xfrm>
          <a:prstGeom prst="rect">
            <a:avLst/>
          </a:prstGeom>
          <a:noFill/>
          <a:ln/>
        </p:spPr>
        <p:txBody>
          <a:bodyPr wrap="none" lIns="0" tIns="0" rIns="0" bIns="0" rtlCol="0" anchor="t"/>
          <a:lstStyle/>
          <a:p>
            <a:pPr marL="0" indent="0" algn="ctr">
              <a:lnSpc>
                <a:spcPct val="125000"/>
              </a:lnSpc>
              <a:buNone/>
            </a:pPr>
            <a:r>
              <a:rPr lang="en-US" sz="1700" dirty="0">
                <a:solidFill>
                  <a:srgbClr val="63637E"/>
                </a:solidFill>
                <a:latin typeface="Carlito" pitchFamily="34" charset="0"/>
                <a:ea typeface="Carlito" pitchFamily="34" charset="-122"/>
                <a:cs typeface="Carlito" pitchFamily="34" charset="-120"/>
              </a:rPr>
              <a:t>From user query → retrieval → shield check → grounded response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Tools and tech stack used</a:t>
            </a:r>
            <a:endParaRPr lang="en-US" sz="4400" dirty="0"/>
          </a:p>
        </p:txBody>
      </p:sp>
      <p:sp>
        <p:nvSpPr>
          <p:cNvPr id="3" name="Text 1"/>
          <p:cNvSpPr/>
          <p:nvPr/>
        </p:nvSpPr>
        <p:spPr>
          <a:xfrm>
            <a:off x="895328" y="2032000"/>
            <a:ext cx="4686183"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Core pipeline</a:t>
            </a:r>
            <a:endParaRPr lang="en-US" sz="2500" dirty="0"/>
          </a:p>
        </p:txBody>
      </p:sp>
      <p:sp>
        <p:nvSpPr>
          <p:cNvPr id="4" name="Text 2"/>
          <p:cNvSpPr/>
          <p:nvPr/>
        </p:nvSpPr>
        <p:spPr>
          <a:xfrm>
            <a:off x="895328" y="2641600"/>
            <a:ext cx="4686183" cy="1988741"/>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Python application layer</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Document ingestion and chunking</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Embeddings and vector retrieval</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Large language model generation</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Prompt and policy guardrails</a:t>
            </a:r>
            <a:endParaRPr lang="en-US" sz="1800" dirty="0"/>
          </a:p>
        </p:txBody>
      </p:sp>
      <p:sp>
        <p:nvSpPr>
          <p:cNvPr id="5" name="Text 3"/>
          <p:cNvSpPr/>
          <p:nvPr/>
        </p:nvSpPr>
        <p:spPr>
          <a:xfrm>
            <a:off x="6610185" y="2032000"/>
            <a:ext cx="4686183"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Product layer</a:t>
            </a:r>
            <a:endParaRPr lang="en-US" sz="2500" dirty="0"/>
          </a:p>
        </p:txBody>
      </p:sp>
      <p:sp>
        <p:nvSpPr>
          <p:cNvPr id="6" name="Text 4"/>
          <p:cNvSpPr/>
          <p:nvPr/>
        </p:nvSpPr>
        <p:spPr>
          <a:xfrm>
            <a:off x="6610185" y="2641600"/>
            <a:ext cx="4686183" cy="1988741"/>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Interactive demo interface</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Source-aware response display</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Evaluation and feedback capture</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Version-controlled project on GitHub</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Modular components for future deployment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Impact &amp; Use case</a:t>
            </a:r>
            <a:endParaRPr lang="en-US" sz="4400" dirty="0"/>
          </a:p>
        </p:txBody>
      </p:sp>
      <p:sp>
        <p:nvSpPr>
          <p:cNvPr id="3" name="Text 1"/>
          <p:cNvSpPr/>
          <p:nvPr/>
        </p:nvSpPr>
        <p:spPr>
          <a:xfrm>
            <a:off x="895328" y="2032000"/>
            <a:ext cx="4762381"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Expected impact</a:t>
            </a:r>
            <a:endParaRPr lang="en-US" sz="2500" dirty="0"/>
          </a:p>
        </p:txBody>
      </p:sp>
      <p:sp>
        <p:nvSpPr>
          <p:cNvPr id="4" name="Text 2"/>
          <p:cNvSpPr/>
          <p:nvPr/>
        </p:nvSpPr>
        <p:spPr>
          <a:xfrm>
            <a:off x="895328" y="2641600"/>
            <a:ext cx="4762381" cy="192018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Faster access to reliable internal knowledge</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Fewer unsupported answers and safer interactions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More consistent responses across teams</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Traceability for review and improvement</a:t>
            </a:r>
            <a:endParaRPr lang="en-US" sz="1800" dirty="0"/>
          </a:p>
        </p:txBody>
      </p:sp>
      <p:sp>
        <p:nvSpPr>
          <p:cNvPr id="5" name="Text 3"/>
          <p:cNvSpPr/>
          <p:nvPr/>
        </p:nvSpPr>
        <p:spPr>
          <a:xfrm>
            <a:off x="6533987" y="2032000"/>
            <a:ext cx="4762381"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Use cases</a:t>
            </a:r>
            <a:endParaRPr lang="en-US" sz="2500" dirty="0"/>
          </a:p>
        </p:txBody>
      </p:sp>
      <p:sp>
        <p:nvSpPr>
          <p:cNvPr id="6" name="Text 4"/>
          <p:cNvSpPr/>
          <p:nvPr/>
        </p:nvSpPr>
        <p:spPr>
          <a:xfrm>
            <a:off x="6533987" y="2641600"/>
            <a:ext cx="4762381" cy="157728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Enterprise policy and process assistant</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Technical support and troubleshooting</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Product and service knowledge search</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Employee enablement and onboarding</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Innovation highlights, results and limitations</a:t>
            </a:r>
            <a:endParaRPr lang="en-US" sz="4400" dirty="0"/>
          </a:p>
        </p:txBody>
      </p:sp>
      <p:sp>
        <p:nvSpPr>
          <p:cNvPr id="3" name="Text 1"/>
          <p:cNvSpPr/>
          <p:nvPr/>
        </p:nvSpPr>
        <p:spPr>
          <a:xfrm>
            <a:off x="895328" y="2032000"/>
            <a:ext cx="3086023" cy="350441"/>
          </a:xfrm>
          <a:prstGeom prst="rect">
            <a:avLst/>
          </a:prstGeom>
          <a:noFill/>
          <a:ln/>
        </p:spPr>
        <p:txBody>
          <a:bodyPr wrap="none" lIns="0" tIns="0" rIns="0" bIns="0" rtlCol="0" anchor="t"/>
          <a:lstStyle/>
          <a:p>
            <a:pPr marL="0" indent="0" algn="ctr">
              <a:lnSpc>
                <a:spcPct val="100000"/>
              </a:lnSpc>
              <a:buNone/>
            </a:pPr>
            <a:r>
              <a:rPr lang="en-US" sz="2300" b="1" dirty="0">
                <a:solidFill>
                  <a:srgbClr val="63637E"/>
                </a:solidFill>
                <a:latin typeface="Carlito Bold" pitchFamily="34" charset="0"/>
                <a:ea typeface="Carlito Bold" pitchFamily="34" charset="-122"/>
                <a:cs typeface="Carlito Bold" pitchFamily="34" charset="-120"/>
              </a:rPr>
              <a:t>Innovation</a:t>
            </a:r>
            <a:endParaRPr lang="en-US" sz="2300" dirty="0"/>
          </a:p>
        </p:txBody>
      </p:sp>
      <p:sp>
        <p:nvSpPr>
          <p:cNvPr id="4" name="Text 2"/>
          <p:cNvSpPr/>
          <p:nvPr/>
        </p:nvSpPr>
        <p:spPr>
          <a:xfrm>
            <a:off x="895328" y="2611041"/>
            <a:ext cx="3086023" cy="288032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Retrieval and safety are designed as one adaptive loop</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Evidence is treated as a release condition, not decoration</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Feedback can improve both search and shielding</a:t>
            </a:r>
            <a:endParaRPr lang="en-US" sz="1800" dirty="0"/>
          </a:p>
        </p:txBody>
      </p:sp>
      <p:sp>
        <p:nvSpPr>
          <p:cNvPr id="5" name="Text 3"/>
          <p:cNvSpPr/>
          <p:nvPr/>
        </p:nvSpPr>
        <p:spPr>
          <a:xfrm>
            <a:off x="4552836" y="2032000"/>
            <a:ext cx="3086023" cy="350441"/>
          </a:xfrm>
          <a:prstGeom prst="rect">
            <a:avLst/>
          </a:prstGeom>
          <a:noFill/>
          <a:ln/>
        </p:spPr>
        <p:txBody>
          <a:bodyPr wrap="none" lIns="0" tIns="0" rIns="0" bIns="0" rtlCol="0" anchor="t"/>
          <a:lstStyle/>
          <a:p>
            <a:pPr marL="0" indent="0" algn="ctr">
              <a:lnSpc>
                <a:spcPct val="100000"/>
              </a:lnSpc>
              <a:buNone/>
            </a:pPr>
            <a:r>
              <a:rPr lang="en-US" sz="2300" b="1" dirty="0">
                <a:solidFill>
                  <a:srgbClr val="63637E"/>
                </a:solidFill>
                <a:latin typeface="Carlito Bold" pitchFamily="34" charset="0"/>
                <a:ea typeface="Carlito Bold" pitchFamily="34" charset="-122"/>
                <a:cs typeface="Carlito Bold" pitchFamily="34" charset="-120"/>
              </a:rPr>
              <a:t>Prototype results</a:t>
            </a:r>
            <a:endParaRPr lang="en-US" sz="2300" dirty="0"/>
          </a:p>
        </p:txBody>
      </p:sp>
      <p:sp>
        <p:nvSpPr>
          <p:cNvPr id="6" name="Text 4"/>
          <p:cNvSpPr/>
          <p:nvPr/>
        </p:nvSpPr>
        <p:spPr>
          <a:xfrm>
            <a:off x="4552836" y="2611041"/>
            <a:ext cx="3086023" cy="288032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End-to-end flow demonstrated from query to grounded answer</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Architecture supports modular evaluation and iteration</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Responses can be reviewed against retrieved context</a:t>
            </a:r>
            <a:endParaRPr lang="en-US" sz="1800" dirty="0"/>
          </a:p>
        </p:txBody>
      </p:sp>
      <p:sp>
        <p:nvSpPr>
          <p:cNvPr id="7" name="Text 5"/>
          <p:cNvSpPr/>
          <p:nvPr/>
        </p:nvSpPr>
        <p:spPr>
          <a:xfrm>
            <a:off x="8210345" y="2032000"/>
            <a:ext cx="3086023" cy="350441"/>
          </a:xfrm>
          <a:prstGeom prst="rect">
            <a:avLst/>
          </a:prstGeom>
          <a:noFill/>
          <a:ln/>
        </p:spPr>
        <p:txBody>
          <a:bodyPr wrap="none" lIns="0" tIns="0" rIns="0" bIns="0" rtlCol="0" anchor="t"/>
          <a:lstStyle/>
          <a:p>
            <a:pPr marL="0" indent="0" algn="ctr">
              <a:lnSpc>
                <a:spcPct val="100000"/>
              </a:lnSpc>
              <a:buNone/>
            </a:pPr>
            <a:r>
              <a:rPr lang="en-US" sz="2300" b="1" dirty="0">
                <a:solidFill>
                  <a:srgbClr val="63637E"/>
                </a:solidFill>
                <a:latin typeface="Carlito Bold" pitchFamily="34" charset="0"/>
                <a:ea typeface="Carlito Bold" pitchFamily="34" charset="-122"/>
                <a:cs typeface="Carlito Bold" pitchFamily="34" charset="-120"/>
              </a:rPr>
              <a:t>Limitations</a:t>
            </a:r>
            <a:endParaRPr lang="en-US" sz="2300" dirty="0"/>
          </a:p>
        </p:txBody>
      </p:sp>
      <p:sp>
        <p:nvSpPr>
          <p:cNvPr id="8" name="Text 6"/>
          <p:cNvSpPr/>
          <p:nvPr/>
        </p:nvSpPr>
        <p:spPr>
          <a:xfrm>
            <a:off x="8210345" y="2611041"/>
            <a:ext cx="3086023" cy="253742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Quality depends on source coverage and retrieval</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Prototype needs broader evaluation and monitoring</a:t>
            </a:r>
            <a:endParaRPr lang="en-US" sz="1800" dirty="0"/>
          </a:p>
          <a:p>
            <a:pPr marL="365760" indent="-365760" algn="l">
              <a:lnSpc>
                <a:spcPct val="125000"/>
              </a:lnSpc>
              <a:buSzPct val="100000"/>
              <a:buChar char="•"/>
            </a:pPr>
            <a:r>
              <a:rPr lang="en-US" sz="1800" dirty="0">
                <a:solidFill>
                  <a:srgbClr val="63637E"/>
                </a:solidFill>
                <a:latin typeface="Carlito" pitchFamily="34" charset="0"/>
                <a:ea typeface="Carlito" pitchFamily="34" charset="-122"/>
                <a:cs typeface="Carlito" pitchFamily="34" charset="-120"/>
              </a:rPr>
              <a:t>Production deployment requires access controls and scale testing</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What’s next</a:t>
            </a:r>
            <a:endParaRPr lang="en-US" sz="4400" dirty="0"/>
          </a:p>
        </p:txBody>
      </p:sp>
      <p:sp>
        <p:nvSpPr>
          <p:cNvPr id="3" name="Text 1"/>
          <p:cNvSpPr/>
          <p:nvPr/>
        </p:nvSpPr>
        <p:spPr>
          <a:xfrm>
            <a:off x="895328" y="2032000"/>
            <a:ext cx="10401040"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Roadmap</a:t>
            </a:r>
            <a:endParaRPr lang="en-US" sz="2500" dirty="0"/>
          </a:p>
        </p:txBody>
      </p:sp>
      <p:sp>
        <p:nvSpPr>
          <p:cNvPr id="4" name="Text 2"/>
          <p:cNvSpPr/>
          <p:nvPr/>
        </p:nvSpPr>
        <p:spPr>
          <a:xfrm>
            <a:off x="895328" y="2641600"/>
            <a:ext cx="10401040" cy="1988741"/>
          </a:xfrm>
          <a:prstGeom prst="rect">
            <a:avLst/>
          </a:prstGeom>
          <a:noFill/>
          <a:ln/>
        </p:spPr>
        <p:txBody>
          <a:bodyPr wrap="square" lIns="0" tIns="0" rIns="0" bIns="0" rtlCol="0" anchor="t">
            <a:normAutofit/>
          </a:bodyPr>
          <a:lstStyle/>
          <a:p>
            <a:pPr marL="365760" indent="-365760" algn="l">
              <a:lnSpc>
                <a:spcPct val="125000"/>
              </a:lnSpc>
              <a:buSzPct val="100000"/>
              <a:buFont typeface="+mj-lt"/>
              <a:buAutoNum type="arabicPeriod"/>
            </a:pPr>
            <a:r>
              <a:rPr lang="en-US" sz="1800" dirty="0">
                <a:solidFill>
                  <a:srgbClr val="63637E"/>
                </a:solidFill>
                <a:latin typeface="Carlito" pitchFamily="34" charset="0"/>
                <a:ea typeface="Carlito" pitchFamily="34" charset="-122"/>
                <a:cs typeface="Carlito" pitchFamily="34" charset="-120"/>
              </a:rPr>
              <a:t>Expand and curate the trusted knowledge base</a:t>
            </a:r>
            <a:endParaRPr lang="en-US" sz="1800" dirty="0"/>
          </a:p>
          <a:p>
            <a:pPr marL="365760" indent="-365760" algn="l">
              <a:lnSpc>
                <a:spcPct val="125000"/>
              </a:lnSpc>
              <a:buSzPct val="100000"/>
              <a:buFont typeface="+mj-lt"/>
              <a:buAutoNum type="arabicPeriod" startAt="2"/>
            </a:pPr>
            <a:r>
              <a:rPr lang="en-US" sz="1800" dirty="0">
                <a:solidFill>
                  <a:srgbClr val="63637E"/>
                </a:solidFill>
                <a:latin typeface="Carlito" pitchFamily="34" charset="0"/>
                <a:ea typeface="Carlito" pitchFamily="34" charset="-122"/>
                <a:cs typeface="Carlito" pitchFamily="34" charset="-120"/>
              </a:rPr>
              <a:t>Improve retrieval, reranking, and evaluation coverage</a:t>
            </a:r>
            <a:endParaRPr lang="en-US" sz="1800" dirty="0"/>
          </a:p>
          <a:p>
            <a:pPr marL="365760" indent="-365760" algn="l">
              <a:lnSpc>
                <a:spcPct val="125000"/>
              </a:lnSpc>
              <a:buSzPct val="100000"/>
              <a:buFont typeface="+mj-lt"/>
              <a:buAutoNum type="arabicPeriod" startAt="3"/>
            </a:pPr>
            <a:r>
              <a:rPr lang="en-US" sz="1800" dirty="0">
                <a:solidFill>
                  <a:srgbClr val="63637E"/>
                </a:solidFill>
                <a:latin typeface="Carlito" pitchFamily="34" charset="0"/>
                <a:ea typeface="Carlito" pitchFamily="34" charset="-122"/>
                <a:cs typeface="Carlito" pitchFamily="34" charset="-120"/>
              </a:rPr>
              <a:t>Strengthen policy checks, access control, and observability</a:t>
            </a:r>
            <a:endParaRPr lang="en-US" sz="1800" dirty="0"/>
          </a:p>
          <a:p>
            <a:pPr marL="365760" indent="-365760" algn="l">
              <a:lnSpc>
                <a:spcPct val="125000"/>
              </a:lnSpc>
              <a:buSzPct val="100000"/>
              <a:buFont typeface="+mj-lt"/>
              <a:buAutoNum type="arabicPeriod" startAt="4"/>
            </a:pPr>
            <a:r>
              <a:rPr lang="en-US" sz="1800" dirty="0">
                <a:solidFill>
                  <a:srgbClr val="63637E"/>
                </a:solidFill>
                <a:latin typeface="Carlito" pitchFamily="34" charset="0"/>
                <a:ea typeface="Carlito" pitchFamily="34" charset="-122"/>
                <a:cs typeface="Carlito" pitchFamily="34" charset="-120"/>
              </a:rPr>
              <a:t>Run pilot testing with representative enterprise workflows</a:t>
            </a:r>
            <a:endParaRPr lang="en-US" sz="1800" dirty="0"/>
          </a:p>
          <a:p>
            <a:pPr marL="365760" indent="-365760" algn="l">
              <a:lnSpc>
                <a:spcPct val="125000"/>
              </a:lnSpc>
              <a:buSzPct val="100000"/>
              <a:buFont typeface="+mj-lt"/>
              <a:buAutoNum type="arabicPeriod" startAt="5"/>
            </a:pPr>
            <a:r>
              <a:rPr lang="en-US" sz="1800" dirty="0">
                <a:solidFill>
                  <a:srgbClr val="63637E"/>
                </a:solidFill>
                <a:latin typeface="Carlito" pitchFamily="34" charset="0"/>
                <a:ea typeface="Carlito" pitchFamily="34" charset="-122"/>
                <a:cs typeface="Carlito" pitchFamily="34" charset="-120"/>
              </a:rPr>
              <a:t>Package the solution for reliable, scalable deployment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Brownie points slide( differentiation)</a:t>
            </a:r>
            <a:endParaRPr lang="en-US" sz="4400" dirty="0"/>
          </a:p>
        </p:txBody>
      </p:sp>
      <p:sp>
        <p:nvSpPr>
          <p:cNvPr id="3" name="Text 1"/>
          <p:cNvSpPr/>
          <p:nvPr/>
        </p:nvSpPr>
        <p:spPr>
          <a:xfrm>
            <a:off x="895328" y="2032000"/>
            <a:ext cx="10401040" cy="381000"/>
          </a:xfrm>
          <a:prstGeom prst="rect">
            <a:avLst/>
          </a:prstGeom>
          <a:noFill/>
          <a:ln/>
        </p:spPr>
        <p:txBody>
          <a:bodyPr wrap="none" lIns="0" tIns="0" rIns="0" bIns="0" rtlCol="0" anchor="t"/>
          <a:lstStyle/>
          <a:p>
            <a:pPr marL="0" indent="0" algn="ctr">
              <a:lnSpc>
                <a:spcPct val="100000"/>
              </a:lnSpc>
              <a:buNone/>
            </a:pPr>
            <a:r>
              <a:rPr lang="en-US" sz="2500" b="1" dirty="0">
                <a:solidFill>
                  <a:srgbClr val="63637E"/>
                </a:solidFill>
                <a:latin typeface="Carlito Bold" pitchFamily="34" charset="0"/>
                <a:ea typeface="Carlito Bold" pitchFamily="34" charset="-122"/>
                <a:cs typeface="Carlito Bold" pitchFamily="34" charset="-120"/>
              </a:rPr>
              <a:t>Why AdaptiveShield RAG stands out</a:t>
            </a:r>
            <a:endParaRPr lang="en-US" sz="2500" dirty="0"/>
          </a:p>
        </p:txBody>
      </p:sp>
      <p:sp>
        <p:nvSpPr>
          <p:cNvPr id="4" name="Text 2"/>
          <p:cNvSpPr/>
          <p:nvPr/>
        </p:nvSpPr>
        <p:spPr>
          <a:xfrm>
            <a:off x="895328" y="2641600"/>
            <a:ext cx="10401040" cy="157728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63637E"/>
                </a:solidFill>
                <a:latin typeface="Carlito Bold" pitchFamily="34" charset="0"/>
                <a:ea typeface="Carlito Bold" pitchFamily="34" charset="-122"/>
                <a:cs typeface="Carlito Bold" pitchFamily="34" charset="-120"/>
              </a:rPr>
              <a:t>Grounded by design:</a:t>
            </a:r>
            <a:r>
              <a:rPr lang="en-US" sz="1800" dirty="0">
                <a:solidFill>
                  <a:srgbClr val="63637E"/>
                </a:solidFill>
                <a:latin typeface="Carlito" pitchFamily="34" charset="0"/>
                <a:ea typeface="Carlito" pitchFamily="34" charset="-122"/>
                <a:cs typeface="Carlito" pitchFamily="34" charset="-120"/>
              </a:rPr>
              <a:t> retrieval and evidence are central to every answer.</a:t>
            </a:r>
            <a:endParaRPr lang="en-US" sz="1800" dirty="0"/>
          </a:p>
          <a:p>
            <a:pPr marL="365760" indent="-365760" algn="l">
              <a:lnSpc>
                <a:spcPct val="125000"/>
              </a:lnSpc>
              <a:buSzPct val="100000"/>
              <a:buChar char="•"/>
            </a:pPr>
            <a:r>
              <a:rPr lang="en-US" sz="1800" b="1" dirty="0">
                <a:solidFill>
                  <a:srgbClr val="63637E"/>
                </a:solidFill>
                <a:latin typeface="Carlito Bold" pitchFamily="34" charset="0"/>
                <a:ea typeface="Carlito Bold" pitchFamily="34" charset="-122"/>
                <a:cs typeface="Carlito Bold" pitchFamily="34" charset="-120"/>
              </a:rPr>
              <a:t>Shielded before release:</a:t>
            </a:r>
            <a:r>
              <a:rPr lang="en-US" sz="1800" dirty="0">
                <a:solidFill>
                  <a:srgbClr val="63637E"/>
                </a:solidFill>
                <a:latin typeface="Carlito" pitchFamily="34" charset="0"/>
                <a:ea typeface="Carlito" pitchFamily="34" charset="-122"/>
                <a:cs typeface="Carlito" pitchFamily="34" charset="-120"/>
              </a:rPr>
              <a:t> safety and policy checks sit in the response path.</a:t>
            </a:r>
            <a:endParaRPr lang="en-US" sz="1800" dirty="0"/>
          </a:p>
          <a:p>
            <a:pPr marL="365760" indent="-365760" algn="l">
              <a:lnSpc>
                <a:spcPct val="125000"/>
              </a:lnSpc>
              <a:buSzPct val="100000"/>
              <a:buChar char="•"/>
            </a:pPr>
            <a:r>
              <a:rPr lang="en-US" sz="1800" b="1" dirty="0">
                <a:solidFill>
                  <a:srgbClr val="63637E"/>
                </a:solidFill>
                <a:latin typeface="Carlito Bold" pitchFamily="34" charset="0"/>
                <a:ea typeface="Carlito Bold" pitchFamily="34" charset="-122"/>
                <a:cs typeface="Carlito Bold" pitchFamily="34" charset="-120"/>
              </a:rPr>
              <a:t>Adaptive rather than static:</a:t>
            </a:r>
            <a:r>
              <a:rPr lang="en-US" sz="1800" dirty="0">
                <a:solidFill>
                  <a:srgbClr val="63637E"/>
                </a:solidFill>
                <a:latin typeface="Carlito" pitchFamily="34" charset="0"/>
                <a:ea typeface="Carlito" pitchFamily="34" charset="-122"/>
                <a:cs typeface="Carlito" pitchFamily="34" charset="-120"/>
              </a:rPr>
              <a:t> the workflow can change with query intent and feedback.</a:t>
            </a:r>
            <a:endParaRPr lang="en-US" sz="1800" dirty="0"/>
          </a:p>
          <a:p>
            <a:pPr marL="365760" indent="-365760" algn="l">
              <a:lnSpc>
                <a:spcPct val="125000"/>
              </a:lnSpc>
              <a:buSzPct val="100000"/>
              <a:buChar char="•"/>
            </a:pPr>
            <a:r>
              <a:rPr lang="en-US" sz="1800" b="1" dirty="0">
                <a:solidFill>
                  <a:srgbClr val="63637E"/>
                </a:solidFill>
                <a:latin typeface="Carlito Bold" pitchFamily="34" charset="0"/>
                <a:ea typeface="Carlito Bold" pitchFamily="34" charset="-122"/>
                <a:cs typeface="Carlito Bold" pitchFamily="34" charset="-120"/>
              </a:rPr>
              <a:t>Enterprise-ready direction:</a:t>
            </a:r>
            <a:r>
              <a:rPr lang="en-US" sz="1800" dirty="0">
                <a:solidFill>
                  <a:srgbClr val="63637E"/>
                </a:solidFill>
                <a:latin typeface="Carlito" pitchFamily="34" charset="0"/>
                <a:ea typeface="Carlito" pitchFamily="34" charset="-122"/>
                <a:cs typeface="Carlito" pitchFamily="34" charset="-120"/>
              </a:rPr>
              <a:t> modular components support auditability, access control, and future scale.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29557" y="692646"/>
            <a:ext cx="10366810" cy="603448"/>
          </a:xfrm>
          <a:prstGeom prst="rect">
            <a:avLst/>
          </a:prstGeom>
          <a:noFill/>
          <a:ln/>
        </p:spPr>
        <p:txBody>
          <a:bodyPr wrap="none" lIns="0" tIns="0" rIns="0" bIns="0" rtlCol="0" anchor="t"/>
          <a:lstStyle/>
          <a:p>
            <a:pPr marL="0" indent="0" algn="l">
              <a:lnSpc>
                <a:spcPct val="90000"/>
              </a:lnSpc>
              <a:buNone/>
            </a:pPr>
            <a:r>
              <a:rPr lang="en-US" sz="4400" b="1" dirty="0">
                <a:solidFill>
                  <a:srgbClr val="704EA6"/>
                </a:solidFill>
                <a:latin typeface="Carlito Bold" pitchFamily="34" charset="0"/>
                <a:ea typeface="Carlito Bold" pitchFamily="34" charset="-122"/>
                <a:cs typeface="Carlito Bold" pitchFamily="34" charset="-120"/>
              </a:rPr>
              <a:t>Checklist- Updated on Public GitHub</a:t>
            </a:r>
            <a:endParaRPr lang="en-US" sz="4400" dirty="0"/>
          </a:p>
        </p:txBody>
      </p:sp>
      <p:sp>
        <p:nvSpPr>
          <p:cNvPr id="3" name="Text 1"/>
          <p:cNvSpPr/>
          <p:nvPr/>
        </p:nvSpPr>
        <p:spPr>
          <a:xfrm>
            <a:off x="929557" y="1857375"/>
            <a:ext cx="10777021" cy="2107406"/>
          </a:xfrm>
          <a:prstGeom prst="rect">
            <a:avLst/>
          </a:prstGeom>
          <a:noFill/>
          <a:ln/>
        </p:spPr>
        <p:txBody>
          <a:bodyPr wrap="square" lIns="0" tIns="0" rIns="0" bIns="0" rtlCol="0" anchor="t">
            <a:normAutofit lnSpcReduction="10000"/>
          </a:bodyPr>
          <a:lstStyle/>
          <a:p>
            <a:pPr marL="177800" indent="-177800" algn="l">
              <a:lnSpc>
                <a:spcPct val="90000"/>
              </a:lnSpc>
              <a:buSzPct val="100000"/>
              <a:buChar char="•"/>
            </a:pPr>
            <a:r>
              <a:rPr lang="en-US" sz="2800" dirty="0">
                <a:solidFill>
                  <a:srgbClr val="63637E"/>
                </a:solidFill>
                <a:latin typeface="Carlito" pitchFamily="34" charset="0"/>
                <a:ea typeface="Carlito" pitchFamily="34" charset="-122"/>
                <a:cs typeface="Carlito" pitchFamily="34" charset="-120"/>
              </a:rPr>
              <a:t>Working prototype code — public or shared GitHub repo : Y</a:t>
            </a:r>
            <a:endParaRPr lang="en-US" sz="2800" dirty="0"/>
          </a:p>
          <a:p>
            <a:pPr marL="177800" indent="-177800" algn="l">
              <a:lnSpc>
                <a:spcPct val="90000"/>
              </a:lnSpc>
              <a:buSzPct val="100000"/>
              <a:buChar char="•"/>
            </a:pPr>
            <a:r>
              <a:rPr lang="en-US" sz="2800" dirty="0">
                <a:solidFill>
                  <a:srgbClr val="63637E"/>
                </a:solidFill>
                <a:latin typeface="Carlito" pitchFamily="34" charset="0"/>
                <a:ea typeface="Carlito" pitchFamily="34" charset="-122"/>
                <a:cs typeface="Carlito" pitchFamily="34" charset="-120"/>
              </a:rPr>
              <a:t>README with reproducible setup instructions : Y </a:t>
            </a:r>
            <a:endParaRPr lang="en-US" sz="2800" dirty="0"/>
          </a:p>
          <a:p>
            <a:pPr marL="177800" indent="-177800" algn="l">
              <a:lnSpc>
                <a:spcPct val="90000"/>
              </a:lnSpc>
              <a:buSzPct val="100000"/>
              <a:buChar char="•"/>
            </a:pPr>
            <a:r>
              <a:rPr lang="en-US" sz="2800" dirty="0">
                <a:solidFill>
                  <a:srgbClr val="63637E"/>
                </a:solidFill>
                <a:latin typeface="Carlito" pitchFamily="34" charset="0"/>
                <a:ea typeface="Carlito" pitchFamily="34" charset="-122"/>
                <a:cs typeface="Carlito" pitchFamily="34" charset="-120"/>
              </a:rPr>
              <a:t>Demo video, max 5 minutes (YouTube or Drive link) : https://</a:t>
            </a:r>
            <a:r>
              <a:rPr lang="en-US" sz="2800" dirty="0" err="1">
                <a:solidFill>
                  <a:srgbClr val="63637E"/>
                </a:solidFill>
                <a:latin typeface="Carlito" pitchFamily="34" charset="0"/>
                <a:ea typeface="Carlito" pitchFamily="34" charset="-122"/>
                <a:cs typeface="Carlito" pitchFamily="34" charset="-120"/>
              </a:rPr>
              <a:t>drive.google.com</a:t>
            </a:r>
            <a:r>
              <a:rPr lang="en-US" sz="2800" dirty="0">
                <a:solidFill>
                  <a:srgbClr val="63637E"/>
                </a:solidFill>
                <a:latin typeface="Carlito" pitchFamily="34" charset="0"/>
                <a:ea typeface="Carlito" pitchFamily="34" charset="-122"/>
                <a:cs typeface="Carlito" pitchFamily="34" charset="-120"/>
              </a:rPr>
              <a:t>/file/d/1zl1hb-_aREvxo3ctIX0vvJF9llqdNglL/</a:t>
            </a:r>
            <a:r>
              <a:rPr lang="en-US" sz="2800" dirty="0" err="1">
                <a:solidFill>
                  <a:srgbClr val="63637E"/>
                </a:solidFill>
                <a:latin typeface="Carlito" pitchFamily="34" charset="0"/>
                <a:ea typeface="Carlito" pitchFamily="34" charset="-122"/>
                <a:cs typeface="Carlito" pitchFamily="34" charset="-120"/>
              </a:rPr>
              <a:t>view?usp</a:t>
            </a:r>
            <a:r>
              <a:rPr lang="en-US" sz="2800" dirty="0">
                <a:solidFill>
                  <a:srgbClr val="63637E"/>
                </a:solidFill>
                <a:latin typeface="Carlito" pitchFamily="34" charset="0"/>
                <a:ea typeface="Carlito" pitchFamily="34" charset="-122"/>
                <a:cs typeface="Carlito" pitchFamily="34" charset="-120"/>
              </a:rPr>
              <a:t>=sharing</a:t>
            </a:r>
            <a:endParaRPr lang="en-US" sz="2800" dirty="0"/>
          </a:p>
          <a:p>
            <a:pPr marL="177800" indent="-177800" algn="l">
              <a:lnSpc>
                <a:spcPct val="90000"/>
              </a:lnSpc>
              <a:buSzPct val="100000"/>
              <a:buChar char="•"/>
            </a:pPr>
            <a:r>
              <a:rPr lang="en-US" sz="2800" dirty="0">
                <a:solidFill>
                  <a:srgbClr val="63637E"/>
                </a:solidFill>
                <a:latin typeface="Carlito" pitchFamily="34" charset="0"/>
                <a:ea typeface="Carlito" pitchFamily="34" charset="-122"/>
                <a:cs typeface="Carlito" pitchFamily="34" charset="-120"/>
              </a:rPr>
              <a:t>Presentation file (PPT or PDF) : PPT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046136" y="3730228"/>
            <a:ext cx="6766351" cy="700980"/>
          </a:xfrm>
          <a:prstGeom prst="rect">
            <a:avLst/>
          </a:prstGeom>
          <a:noFill/>
          <a:ln/>
        </p:spPr>
        <p:txBody>
          <a:bodyPr wrap="none" lIns="0" tIns="0" rIns="0" bIns="0" rtlCol="0" anchor="t"/>
          <a:lstStyle/>
          <a:p>
            <a:pPr marL="0" indent="0" algn="l">
              <a:lnSpc>
                <a:spcPct val="100000"/>
              </a:lnSpc>
              <a:buNone/>
            </a:pPr>
            <a:r>
              <a:rPr lang="en-US" sz="4600" b="1" dirty="0">
                <a:solidFill>
                  <a:srgbClr val="14142B"/>
                </a:solidFill>
                <a:latin typeface="Arimo Bold" pitchFamily="34" charset="0"/>
                <a:ea typeface="Arimo Bold" pitchFamily="34" charset="-122"/>
                <a:cs typeface="Arimo Bold" pitchFamily="34" charset="-120"/>
              </a:rPr>
              <a:t>Thank you</a:t>
            </a:r>
            <a:endParaRPr lang="en-US" sz="4600" dirty="0"/>
          </a:p>
        </p:txBody>
      </p:sp>
      <p:sp>
        <p:nvSpPr>
          <p:cNvPr id="3" name="Text 1"/>
          <p:cNvSpPr/>
          <p:nvPr/>
        </p:nvSpPr>
        <p:spPr>
          <a:xfrm>
            <a:off x="777161" y="5946378"/>
            <a:ext cx="11216300" cy="209550"/>
          </a:xfrm>
          <a:prstGeom prst="rect">
            <a:avLst/>
          </a:prstGeom>
          <a:noFill/>
          <a:ln/>
        </p:spPr>
        <p:txBody>
          <a:bodyPr wrap="none" lIns="0" tIns="0" rIns="0" bIns="0" rtlCol="0" anchor="t"/>
          <a:lstStyle/>
          <a:p>
            <a:pPr marL="0" indent="0" algn="l">
              <a:lnSpc>
                <a:spcPct val="125000"/>
              </a:lnSpc>
              <a:buNone/>
            </a:pPr>
            <a:r>
              <a:rPr lang="en-US" sz="1100" dirty="0">
                <a:solidFill>
                  <a:srgbClr val="63637E"/>
                </a:solidFill>
                <a:latin typeface="Carlito" pitchFamily="34" charset="0"/>
                <a:ea typeface="Carlito" pitchFamily="34" charset="-122"/>
                <a:cs typeface="Carlito"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4EA6"/>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794</Words>
  <Application>Microsoft Macintosh PowerPoint</Application>
  <PresentationFormat>Widescreen</PresentationFormat>
  <Paragraphs>114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Carlito Bold</vt:lpstr>
      <vt:lpstr>Arial</vt:lpstr>
      <vt:lpstr>Arimo Bold</vt:lpstr>
      <vt:lpstr>Carlito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inna Pothireddy</cp:lastModifiedBy>
  <cp:revision>4</cp:revision>
  <dcterms:created xsi:type="dcterms:W3CDTF">2026-09-30T13:36:30Z</dcterms:created>
  <dcterms:modified xsi:type="dcterms:W3CDTF">2026-09-30T13:40:03Z</dcterms:modified>
</cp:coreProperties>
</file>